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8" r:id="rId1"/>
  </p:sldMasterIdLst>
  <p:notesMasterIdLst>
    <p:notesMasterId r:id="rId17"/>
  </p:notesMasterIdLst>
  <p:sldIdLst>
    <p:sldId id="509" r:id="rId2"/>
    <p:sldId id="507" r:id="rId3"/>
    <p:sldId id="503" r:id="rId4"/>
    <p:sldId id="504" r:id="rId5"/>
    <p:sldId id="492" r:id="rId6"/>
    <p:sldId id="508" r:id="rId7"/>
    <p:sldId id="505" r:id="rId8"/>
    <p:sldId id="495" r:id="rId9"/>
    <p:sldId id="496" r:id="rId10"/>
    <p:sldId id="497" r:id="rId11"/>
    <p:sldId id="506" r:id="rId12"/>
    <p:sldId id="499" r:id="rId13"/>
    <p:sldId id="500" r:id="rId14"/>
    <p:sldId id="501" r:id="rId15"/>
    <p:sldId id="51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1A21FF-C2C3-450D-967B-2B3FE09321CE}" v="16" dt="2026-07-29T13:28:01.6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341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ximjon Raxmonjonov" userId="28c2af50d1c68d11" providerId="LiveId" clId="{DB1FEE29-F622-44C3-B6FB-49C6C66EDAC1}"/>
    <pc:docChg chg="undo custSel addSld delSld modSld addMainMaster delMainMaster">
      <pc:chgData name="Raximjon Raxmonjonov" userId="28c2af50d1c68d11" providerId="LiveId" clId="{DB1FEE29-F622-44C3-B6FB-49C6C66EDAC1}" dt="2026-07-29T13:28:25.293" v="148" actId="20577"/>
      <pc:docMkLst>
        <pc:docMk/>
      </pc:docMkLst>
      <pc:sldChg chg="del">
        <pc:chgData name="Raximjon Raxmonjonov" userId="28c2af50d1c68d11" providerId="LiveId" clId="{DB1FEE29-F622-44C3-B6FB-49C6C66EDAC1}" dt="2026-07-29T12:18:42.483" v="1"/>
        <pc:sldMkLst>
          <pc:docMk/>
          <pc:sldMk cId="339509962" sldId="469"/>
        </pc:sldMkLst>
      </pc:sldChg>
      <pc:sldChg chg="del mod modClrScheme chgLayout">
        <pc:chgData name="Raximjon Raxmonjonov" userId="28c2af50d1c68d11" providerId="LiveId" clId="{DB1FEE29-F622-44C3-B6FB-49C6C66EDAC1}" dt="2026-07-29T12:18:51.240" v="21"/>
        <pc:sldMkLst>
          <pc:docMk/>
          <pc:sldMk cId="1653712297" sldId="471"/>
        </pc:sldMkLst>
      </pc:sldChg>
      <pc:sldChg chg="del mod modClrScheme chgLayout">
        <pc:chgData name="Raximjon Raxmonjonov" userId="28c2af50d1c68d11" providerId="LiveId" clId="{DB1FEE29-F622-44C3-B6FB-49C6C66EDAC1}" dt="2026-07-29T12:18:53.040" v="23"/>
        <pc:sldMkLst>
          <pc:docMk/>
          <pc:sldMk cId="2369853248" sldId="472"/>
        </pc:sldMkLst>
      </pc:sldChg>
      <pc:sldChg chg="del mod modClrScheme chgLayout">
        <pc:chgData name="Raximjon Raxmonjonov" userId="28c2af50d1c68d11" providerId="LiveId" clId="{DB1FEE29-F622-44C3-B6FB-49C6C66EDAC1}" dt="2026-07-29T12:18:54.013" v="25"/>
        <pc:sldMkLst>
          <pc:docMk/>
          <pc:sldMk cId="729030777" sldId="473"/>
        </pc:sldMkLst>
      </pc:sldChg>
      <pc:sldChg chg="del mod modClrScheme chgLayout">
        <pc:chgData name="Raximjon Raxmonjonov" userId="28c2af50d1c68d11" providerId="LiveId" clId="{DB1FEE29-F622-44C3-B6FB-49C6C66EDAC1}" dt="2026-07-29T12:18:59.171" v="27"/>
        <pc:sldMkLst>
          <pc:docMk/>
          <pc:sldMk cId="2318970837" sldId="474"/>
        </pc:sldMkLst>
      </pc:sldChg>
      <pc:sldChg chg="del mod modClrScheme chgLayout">
        <pc:chgData name="Raximjon Raxmonjonov" userId="28c2af50d1c68d11" providerId="LiveId" clId="{DB1FEE29-F622-44C3-B6FB-49C6C66EDAC1}" dt="2026-07-29T12:19:00.652" v="29"/>
        <pc:sldMkLst>
          <pc:docMk/>
          <pc:sldMk cId="3642311461" sldId="475"/>
        </pc:sldMkLst>
      </pc:sldChg>
      <pc:sldChg chg="del mod modClrScheme chgLayout">
        <pc:chgData name="Raximjon Raxmonjonov" userId="28c2af50d1c68d11" providerId="LiveId" clId="{DB1FEE29-F622-44C3-B6FB-49C6C66EDAC1}" dt="2026-07-29T12:19:07.197" v="33"/>
        <pc:sldMkLst>
          <pc:docMk/>
          <pc:sldMk cId="4284428195" sldId="476"/>
        </pc:sldMkLst>
      </pc:sldChg>
      <pc:sldChg chg="del mod modClrScheme chgLayout">
        <pc:chgData name="Raximjon Raxmonjonov" userId="28c2af50d1c68d11" providerId="LiveId" clId="{DB1FEE29-F622-44C3-B6FB-49C6C66EDAC1}" dt="2026-07-29T12:19:13.450" v="35"/>
        <pc:sldMkLst>
          <pc:docMk/>
          <pc:sldMk cId="136843382" sldId="477"/>
        </pc:sldMkLst>
      </pc:sldChg>
      <pc:sldChg chg="del mod modClrScheme chgLayout">
        <pc:chgData name="Raximjon Raxmonjonov" userId="28c2af50d1c68d11" providerId="LiveId" clId="{DB1FEE29-F622-44C3-B6FB-49C6C66EDAC1}" dt="2026-07-29T12:19:16.278" v="39"/>
        <pc:sldMkLst>
          <pc:docMk/>
          <pc:sldMk cId="92218473" sldId="478"/>
        </pc:sldMkLst>
      </pc:sldChg>
      <pc:sldChg chg="del mod modClrScheme chgLayout">
        <pc:chgData name="Raximjon Raxmonjonov" userId="28c2af50d1c68d11" providerId="LiveId" clId="{DB1FEE29-F622-44C3-B6FB-49C6C66EDAC1}" dt="2026-07-29T12:19:18.179" v="41"/>
        <pc:sldMkLst>
          <pc:docMk/>
          <pc:sldMk cId="168218757" sldId="479"/>
        </pc:sldMkLst>
      </pc:sldChg>
      <pc:sldChg chg="del mod modClrScheme chgLayout">
        <pc:chgData name="Raximjon Raxmonjonov" userId="28c2af50d1c68d11" providerId="LiveId" clId="{DB1FEE29-F622-44C3-B6FB-49C6C66EDAC1}" dt="2026-07-29T12:19:23.636" v="43"/>
        <pc:sldMkLst>
          <pc:docMk/>
          <pc:sldMk cId="1623933378" sldId="480"/>
        </pc:sldMkLst>
      </pc:sldChg>
      <pc:sldChg chg="addSp delSp modSp del mod modClrScheme chgLayout">
        <pc:chgData name="Raximjon Raxmonjonov" userId="28c2af50d1c68d11" providerId="LiveId" clId="{DB1FEE29-F622-44C3-B6FB-49C6C66EDAC1}" dt="2026-07-29T13:27:34.657" v="129"/>
        <pc:sldMkLst>
          <pc:docMk/>
          <pc:sldMk cId="866397358" sldId="481"/>
        </pc:sldMkLst>
        <pc:spChg chg="mod">
          <ac:chgData name="Raximjon Raxmonjonov" userId="28c2af50d1c68d11" providerId="LiveId" clId="{DB1FEE29-F622-44C3-B6FB-49C6C66EDAC1}" dt="2026-07-29T13:18:40.836" v="107"/>
          <ac:spMkLst>
            <pc:docMk/>
            <pc:sldMk cId="866397358" sldId="481"/>
            <ac:spMk id="6" creationId="{00000000-0000-0000-0000-000000000000}"/>
          </ac:spMkLst>
        </pc:spChg>
        <pc:picChg chg="del">
          <ac:chgData name="Raximjon Raxmonjonov" userId="28c2af50d1c68d11" providerId="LiveId" clId="{DB1FEE29-F622-44C3-B6FB-49C6C66EDAC1}" dt="2026-07-29T13:27:26.419" v="123"/>
          <ac:picMkLst>
            <pc:docMk/>
            <pc:sldMk cId="866397358" sldId="481"/>
            <ac:picMk id="2" creationId="{00000000-0000-0000-0000-000000000000}"/>
          </ac:picMkLst>
        </pc:picChg>
        <pc:picChg chg="add mod">
          <ac:chgData name="Raximjon Raxmonjonov" userId="28c2af50d1c68d11" providerId="LiveId" clId="{DB1FEE29-F622-44C3-B6FB-49C6C66EDAC1}" dt="2026-07-29T13:27:26.420" v="127"/>
          <ac:picMkLst>
            <pc:docMk/>
            <pc:sldMk cId="866397358" sldId="481"/>
            <ac:picMk id="8" creationId="{DCD1E5D1-7085-33A1-4905-E0B4B96D5D40}"/>
          </ac:picMkLst>
        </pc:picChg>
      </pc:sldChg>
      <pc:sldChg chg="del mod modClrScheme chgLayout">
        <pc:chgData name="Raximjon Raxmonjonov" userId="28c2af50d1c68d11" providerId="LiveId" clId="{DB1FEE29-F622-44C3-B6FB-49C6C66EDAC1}" dt="2026-07-29T12:19:02.007" v="31"/>
        <pc:sldMkLst>
          <pc:docMk/>
          <pc:sldMk cId="1207923319" sldId="482"/>
        </pc:sldMkLst>
      </pc:sldChg>
      <pc:sldChg chg="del mod modClrScheme chgLayout">
        <pc:chgData name="Raximjon Raxmonjonov" userId="28c2af50d1c68d11" providerId="LiveId" clId="{DB1FEE29-F622-44C3-B6FB-49C6C66EDAC1}" dt="2026-07-29T12:18:50.099" v="19"/>
        <pc:sldMkLst>
          <pc:docMk/>
          <pc:sldMk cId="639239015" sldId="486"/>
        </pc:sldMkLst>
      </pc:sldChg>
      <pc:sldChg chg="del mod modClrScheme chgLayout">
        <pc:chgData name="Raximjon Raxmonjonov" userId="28c2af50d1c68d11" providerId="LiveId" clId="{DB1FEE29-F622-44C3-B6FB-49C6C66EDAC1}" dt="2026-07-29T12:19:14.912" v="37"/>
        <pc:sldMkLst>
          <pc:docMk/>
          <pc:sldMk cId="1670815807" sldId="487"/>
        </pc:sldMkLst>
      </pc:sldChg>
      <pc:sldChg chg="addSp delSp modSp add del mod">
        <pc:chgData name="Raximjon Raxmonjonov" userId="28c2af50d1c68d11" providerId="LiveId" clId="{DB1FEE29-F622-44C3-B6FB-49C6C66EDAC1}" dt="2026-07-29T13:26:53.204" v="121"/>
        <pc:sldMkLst>
          <pc:docMk/>
          <pc:sldMk cId="2276529023" sldId="488"/>
        </pc:sldMkLst>
        <pc:picChg chg="add mod">
          <ac:chgData name="Raximjon Raxmonjonov" userId="28c2af50d1c68d11" providerId="LiveId" clId="{DB1FEE29-F622-44C3-B6FB-49C6C66EDAC1}" dt="2026-07-29T13:26:45.346" v="119"/>
          <ac:picMkLst>
            <pc:docMk/>
            <pc:sldMk cId="2276529023" sldId="488"/>
            <ac:picMk id="3" creationId="{20AD338D-B9BC-B832-90C3-6C8D52A9ADFE}"/>
          </ac:picMkLst>
        </pc:picChg>
        <pc:picChg chg="del">
          <ac:chgData name="Raximjon Raxmonjonov" userId="28c2af50d1c68d11" providerId="LiveId" clId="{DB1FEE29-F622-44C3-B6FB-49C6C66EDAC1}" dt="2026-07-29T13:26:45.344" v="115"/>
          <ac:picMkLst>
            <pc:docMk/>
            <pc:sldMk cId="2276529023" sldId="488"/>
            <ac:picMk id="10" creationId="{00000000-0000-0000-0000-000000000000}"/>
          </ac:picMkLst>
        </pc:picChg>
      </pc:sldChg>
      <pc:sldChg chg="new del">
        <pc:chgData name="Raximjon Raxmonjonov" userId="28c2af50d1c68d11" providerId="LiveId" clId="{DB1FEE29-F622-44C3-B6FB-49C6C66EDAC1}" dt="2026-07-29T12:18:42.565" v="17"/>
        <pc:sldMkLst>
          <pc:docMk/>
          <pc:sldMk cId="1751387689" sldId="489"/>
        </pc:sldMkLst>
      </pc:sldChg>
      <pc:sldChg chg="add del">
        <pc:chgData name="Raximjon Raxmonjonov" userId="28c2af50d1c68d11" providerId="LiveId" clId="{DB1FEE29-F622-44C3-B6FB-49C6C66EDAC1}" dt="2026-07-29T12:19:56.413" v="49"/>
        <pc:sldMkLst>
          <pc:docMk/>
          <pc:sldMk cId="2533255402" sldId="489"/>
        </pc:sldMkLst>
      </pc:sldChg>
      <pc:sldChg chg="add del">
        <pc:chgData name="Raximjon Raxmonjonov" userId="28c2af50d1c68d11" providerId="LiveId" clId="{DB1FEE29-F622-44C3-B6FB-49C6C66EDAC1}" dt="2026-07-29T12:19:58.889" v="52"/>
        <pc:sldMkLst>
          <pc:docMk/>
          <pc:sldMk cId="2582436896" sldId="490"/>
        </pc:sldMkLst>
      </pc:sldChg>
      <pc:sldChg chg="add del">
        <pc:chgData name="Raximjon Raxmonjonov" userId="28c2af50d1c68d11" providerId="LiveId" clId="{DB1FEE29-F622-44C3-B6FB-49C6C66EDAC1}" dt="2026-07-29T12:20:00.151" v="54"/>
        <pc:sldMkLst>
          <pc:docMk/>
          <pc:sldMk cId="1776862869" sldId="491"/>
        </pc:sldMkLst>
      </pc:sldChg>
      <pc:sldChg chg="add">
        <pc:chgData name="Raximjon Raxmonjonov" userId="28c2af50d1c68d11" providerId="LiveId" clId="{DB1FEE29-F622-44C3-B6FB-49C6C66EDAC1}" dt="2026-07-29T12:18:54.008" v="24"/>
        <pc:sldMkLst>
          <pc:docMk/>
          <pc:sldMk cId="2588813261" sldId="492"/>
        </pc:sldMkLst>
      </pc:sldChg>
      <pc:sldChg chg="add del">
        <pc:chgData name="Raximjon Raxmonjonov" userId="28c2af50d1c68d11" providerId="LiveId" clId="{DB1FEE29-F622-44C3-B6FB-49C6C66EDAC1}" dt="2026-07-29T13:24:16.015" v="109"/>
        <pc:sldMkLst>
          <pc:docMk/>
          <pc:sldMk cId="3633841979" sldId="493"/>
        </pc:sldMkLst>
      </pc:sldChg>
      <pc:sldChg chg="add del">
        <pc:chgData name="Raximjon Raxmonjonov" userId="28c2af50d1c68d11" providerId="LiveId" clId="{DB1FEE29-F622-44C3-B6FB-49C6C66EDAC1}" dt="2026-07-29T12:20:02.574" v="57"/>
        <pc:sldMkLst>
          <pc:docMk/>
          <pc:sldMk cId="431248354" sldId="494"/>
        </pc:sldMkLst>
      </pc:sldChg>
      <pc:sldChg chg="add">
        <pc:chgData name="Raximjon Raxmonjonov" userId="28c2af50d1c68d11" providerId="LiveId" clId="{DB1FEE29-F622-44C3-B6FB-49C6C66EDAC1}" dt="2026-07-29T12:19:02.003" v="30"/>
        <pc:sldMkLst>
          <pc:docMk/>
          <pc:sldMk cId="1923261441" sldId="495"/>
        </pc:sldMkLst>
      </pc:sldChg>
      <pc:sldChg chg="modSp add mod">
        <pc:chgData name="Raximjon Raxmonjonov" userId="28c2af50d1c68d11" providerId="LiveId" clId="{DB1FEE29-F622-44C3-B6FB-49C6C66EDAC1}" dt="2026-07-29T12:20:06.369" v="58" actId="14100"/>
        <pc:sldMkLst>
          <pc:docMk/>
          <pc:sldMk cId="899971217" sldId="496"/>
        </pc:sldMkLst>
        <pc:spChg chg="mod">
          <ac:chgData name="Raximjon Raxmonjonov" userId="28c2af50d1c68d11" providerId="LiveId" clId="{DB1FEE29-F622-44C3-B6FB-49C6C66EDAC1}" dt="2026-07-29T12:19:58.785" v="50" actId="14100"/>
          <ac:spMkLst>
            <pc:docMk/>
            <pc:sldMk cId="899971217" sldId="496"/>
            <ac:spMk id="4" creationId="{00000000-0000-0000-0000-000000000000}"/>
          </ac:spMkLst>
        </pc:spChg>
        <pc:spChg chg="mod">
          <ac:chgData name="Raximjon Raxmonjonov" userId="28c2af50d1c68d11" providerId="LiveId" clId="{DB1FEE29-F622-44C3-B6FB-49C6C66EDAC1}" dt="2026-07-29T12:20:02.513" v="55" actId="14100"/>
          <ac:spMkLst>
            <pc:docMk/>
            <pc:sldMk cId="899971217" sldId="496"/>
            <ac:spMk id="9" creationId="{00000000-0000-0000-0000-000000000000}"/>
          </ac:spMkLst>
        </pc:spChg>
        <pc:spChg chg="mod">
          <ac:chgData name="Raximjon Raxmonjonov" userId="28c2af50d1c68d11" providerId="LiveId" clId="{DB1FEE29-F622-44C3-B6FB-49C6C66EDAC1}" dt="2026-07-29T12:20:06.369" v="58" actId="14100"/>
          <ac:spMkLst>
            <pc:docMk/>
            <pc:sldMk cId="899971217" sldId="496"/>
            <ac:spMk id="14" creationId="{00000000-0000-0000-0000-000000000000}"/>
          </ac:spMkLst>
        </pc:spChg>
      </pc:sldChg>
      <pc:sldChg chg="add">
        <pc:chgData name="Raximjon Raxmonjonov" userId="28c2af50d1c68d11" providerId="LiveId" clId="{DB1FEE29-F622-44C3-B6FB-49C6C66EDAC1}" dt="2026-07-29T12:19:13.445" v="34"/>
        <pc:sldMkLst>
          <pc:docMk/>
          <pc:sldMk cId="2191330310" sldId="497"/>
        </pc:sldMkLst>
      </pc:sldChg>
      <pc:sldChg chg="add del">
        <pc:chgData name="Raximjon Raxmonjonov" userId="28c2af50d1c68d11" providerId="LiveId" clId="{DB1FEE29-F622-44C3-B6FB-49C6C66EDAC1}" dt="2026-07-29T12:20:29.054" v="60"/>
        <pc:sldMkLst>
          <pc:docMk/>
          <pc:sldMk cId="1616164924" sldId="498"/>
        </pc:sldMkLst>
      </pc:sldChg>
      <pc:sldChg chg="add">
        <pc:chgData name="Raximjon Raxmonjonov" userId="28c2af50d1c68d11" providerId="LiveId" clId="{DB1FEE29-F622-44C3-B6FB-49C6C66EDAC1}" dt="2026-07-29T12:19:16.274" v="38"/>
        <pc:sldMkLst>
          <pc:docMk/>
          <pc:sldMk cId="2841672449" sldId="499"/>
        </pc:sldMkLst>
      </pc:sldChg>
      <pc:sldChg chg="add">
        <pc:chgData name="Raximjon Raxmonjonov" userId="28c2af50d1c68d11" providerId="LiveId" clId="{DB1FEE29-F622-44C3-B6FB-49C6C66EDAC1}" dt="2026-07-29T12:19:18.172" v="40"/>
        <pc:sldMkLst>
          <pc:docMk/>
          <pc:sldMk cId="2299397258" sldId="500"/>
        </pc:sldMkLst>
      </pc:sldChg>
      <pc:sldChg chg="modSp add mod">
        <pc:chgData name="Raximjon Raxmonjonov" userId="28c2af50d1c68d11" providerId="LiveId" clId="{DB1FEE29-F622-44C3-B6FB-49C6C66EDAC1}" dt="2026-07-29T12:19:41.065" v="47" actId="1076"/>
        <pc:sldMkLst>
          <pc:docMk/>
          <pc:sldMk cId="563012002" sldId="501"/>
        </pc:sldMkLst>
        <pc:spChg chg="mod">
          <ac:chgData name="Raximjon Raxmonjonov" userId="28c2af50d1c68d11" providerId="LiveId" clId="{DB1FEE29-F622-44C3-B6FB-49C6C66EDAC1}" dt="2026-07-29T12:19:32.183" v="44" actId="14100"/>
          <ac:spMkLst>
            <pc:docMk/>
            <pc:sldMk cId="563012002" sldId="501"/>
            <ac:spMk id="4" creationId="{00000000-0000-0000-0000-000000000000}"/>
          </ac:spMkLst>
        </pc:spChg>
        <pc:spChg chg="mod">
          <ac:chgData name="Raximjon Raxmonjonov" userId="28c2af50d1c68d11" providerId="LiveId" clId="{DB1FEE29-F622-44C3-B6FB-49C6C66EDAC1}" dt="2026-07-29T12:19:36.905" v="45" actId="14100"/>
          <ac:spMkLst>
            <pc:docMk/>
            <pc:sldMk cId="563012002" sldId="501"/>
            <ac:spMk id="9" creationId="{00000000-0000-0000-0000-000000000000}"/>
          </ac:spMkLst>
        </pc:spChg>
        <pc:spChg chg="mod">
          <ac:chgData name="Raximjon Raxmonjonov" userId="28c2af50d1c68d11" providerId="LiveId" clId="{DB1FEE29-F622-44C3-B6FB-49C6C66EDAC1}" dt="2026-07-29T12:19:40.442" v="46" actId="14100"/>
          <ac:spMkLst>
            <pc:docMk/>
            <pc:sldMk cId="563012002" sldId="501"/>
            <ac:spMk id="14" creationId="{00000000-0000-0000-0000-000000000000}"/>
          </ac:spMkLst>
        </pc:spChg>
        <pc:spChg chg="mod">
          <ac:chgData name="Raximjon Raxmonjonov" userId="28c2af50d1c68d11" providerId="LiveId" clId="{DB1FEE29-F622-44C3-B6FB-49C6C66EDAC1}" dt="2026-07-29T12:19:41.065" v="47" actId="1076"/>
          <ac:spMkLst>
            <pc:docMk/>
            <pc:sldMk cId="563012002" sldId="501"/>
            <ac:spMk id="60" creationId="{00000000-0000-0000-0000-000000000000}"/>
          </ac:spMkLst>
        </pc:spChg>
      </pc:sldChg>
      <pc:sldChg chg="add del">
        <pc:chgData name="Raximjon Raxmonjonov" userId="28c2af50d1c68d11" providerId="LiveId" clId="{DB1FEE29-F622-44C3-B6FB-49C6C66EDAC1}" dt="2026-07-29T12:21:05.142" v="62"/>
        <pc:sldMkLst>
          <pc:docMk/>
          <pc:sldMk cId="4099913887" sldId="502"/>
        </pc:sldMkLst>
      </pc:sldChg>
      <pc:sldChg chg="modSp add mod">
        <pc:chgData name="Raximjon Raxmonjonov" userId="28c2af50d1c68d11" providerId="LiveId" clId="{DB1FEE29-F622-44C3-B6FB-49C6C66EDAC1}" dt="2026-07-29T12:29:56.248" v="68" actId="1076"/>
        <pc:sldMkLst>
          <pc:docMk/>
          <pc:sldMk cId="3500276410" sldId="503"/>
        </pc:sldMkLst>
        <pc:spChg chg="mod">
          <ac:chgData name="Raximjon Raxmonjonov" userId="28c2af50d1c68d11" providerId="LiveId" clId="{DB1FEE29-F622-44C3-B6FB-49C6C66EDAC1}" dt="2026-07-29T12:29:56.248" v="68" actId="1076"/>
          <ac:spMkLst>
            <pc:docMk/>
            <pc:sldMk cId="3500276410" sldId="503"/>
            <ac:spMk id="4" creationId="{00000000-0000-0000-0000-000000000000}"/>
          </ac:spMkLst>
        </pc:spChg>
      </pc:sldChg>
      <pc:sldChg chg="modSp add mod">
        <pc:chgData name="Raximjon Raxmonjonov" userId="28c2af50d1c68d11" providerId="LiveId" clId="{DB1FEE29-F622-44C3-B6FB-49C6C66EDAC1}" dt="2026-07-29T12:31:27.106" v="76" actId="1076"/>
        <pc:sldMkLst>
          <pc:docMk/>
          <pc:sldMk cId="319538501" sldId="504"/>
        </pc:sldMkLst>
        <pc:spChg chg="mod">
          <ac:chgData name="Raximjon Raxmonjonov" userId="28c2af50d1c68d11" providerId="LiveId" clId="{DB1FEE29-F622-44C3-B6FB-49C6C66EDAC1}" dt="2026-07-29T12:31:27.106" v="76" actId="1076"/>
          <ac:spMkLst>
            <pc:docMk/>
            <pc:sldMk cId="319538501" sldId="504"/>
            <ac:spMk id="4" creationId="{00000000-0000-0000-0000-000000000000}"/>
          </ac:spMkLst>
        </pc:spChg>
      </pc:sldChg>
      <pc:sldChg chg="add del">
        <pc:chgData name="Raximjon Raxmonjonov" userId="28c2af50d1c68d11" providerId="LiveId" clId="{DB1FEE29-F622-44C3-B6FB-49C6C66EDAC1}" dt="2026-07-29T13:25:13.334" v="112" actId="47"/>
        <pc:sldMkLst>
          <pc:docMk/>
          <pc:sldMk cId="3749020764" sldId="505"/>
        </pc:sldMkLst>
      </pc:sldChg>
      <pc:sldChg chg="add">
        <pc:chgData name="Raximjon Raxmonjonov" userId="28c2af50d1c68d11" providerId="LiveId" clId="{DB1FEE29-F622-44C3-B6FB-49C6C66EDAC1}" dt="2026-07-29T12:20:29.047" v="59"/>
        <pc:sldMkLst>
          <pc:docMk/>
          <pc:sldMk cId="985031348" sldId="506"/>
        </pc:sldMkLst>
      </pc:sldChg>
      <pc:sldChg chg="add">
        <pc:chgData name="Raximjon Raxmonjonov" userId="28c2af50d1c68d11" providerId="LiveId" clId="{DB1FEE29-F622-44C3-B6FB-49C6C66EDAC1}" dt="2026-07-29T12:21:05.137" v="61"/>
        <pc:sldMkLst>
          <pc:docMk/>
          <pc:sldMk cId="1026512328" sldId="507"/>
        </pc:sldMkLst>
      </pc:sldChg>
      <pc:sldChg chg="add del">
        <pc:chgData name="Raximjon Raxmonjonov" userId="28c2af50d1c68d11" providerId="LiveId" clId="{DB1FEE29-F622-44C3-B6FB-49C6C66EDAC1}" dt="2026-07-29T13:25:14.217" v="113" actId="47"/>
        <pc:sldMkLst>
          <pc:docMk/>
          <pc:sldMk cId="3597366679" sldId="508"/>
        </pc:sldMkLst>
      </pc:sldChg>
      <pc:sldChg chg="add">
        <pc:chgData name="Raximjon Raxmonjonov" userId="28c2af50d1c68d11" providerId="LiveId" clId="{DB1FEE29-F622-44C3-B6FB-49C6C66EDAC1}" dt="2026-07-29T13:26:53.200" v="120"/>
        <pc:sldMkLst>
          <pc:docMk/>
          <pc:sldMk cId="2626115167" sldId="509"/>
        </pc:sldMkLst>
      </pc:sldChg>
      <pc:sldChg chg="modSp add mod">
        <pc:chgData name="Raximjon Raxmonjonov" userId="28c2af50d1c68d11" providerId="LiveId" clId="{DB1FEE29-F622-44C3-B6FB-49C6C66EDAC1}" dt="2026-07-29T13:28:25.293" v="148" actId="20577"/>
        <pc:sldMkLst>
          <pc:docMk/>
          <pc:sldMk cId="882417329" sldId="510"/>
        </pc:sldMkLst>
        <pc:spChg chg="mod">
          <ac:chgData name="Raximjon Raxmonjonov" userId="28c2af50d1c68d11" providerId="LiveId" clId="{DB1FEE29-F622-44C3-B6FB-49C6C66EDAC1}" dt="2026-07-29T13:28:25.293" v="148" actId="20577"/>
          <ac:spMkLst>
            <pc:docMk/>
            <pc:sldMk cId="882417329" sldId="510"/>
            <ac:spMk id="6" creationId="{00000000-0000-0000-0000-000000000000}"/>
          </ac:spMkLst>
        </pc:spChg>
      </pc:sldChg>
      <pc:sldMasterChg chg="del delSldLayout">
        <pc:chgData name="Raximjon Raxmonjonov" userId="28c2af50d1c68d11" providerId="LiveId" clId="{DB1FEE29-F622-44C3-B6FB-49C6C66EDAC1}" dt="2026-07-29T12:18:42.565" v="17"/>
        <pc:sldMasterMkLst>
          <pc:docMk/>
          <pc:sldMasterMk cId="0" sldId="2147483656"/>
        </pc:sldMasterMkLst>
        <pc:sldLayoutChg chg="del">
          <pc:chgData name="Raximjon Raxmonjonov" userId="28c2af50d1c68d11" providerId="LiveId" clId="{DB1FEE29-F622-44C3-B6FB-49C6C66EDAC1}" dt="2026-07-29T12:18:42.565" v="17"/>
          <pc:sldLayoutMkLst>
            <pc:docMk/>
            <pc:sldMasterMk cId="0" sldId="2147483656"/>
            <pc:sldLayoutMk cId="0" sldId="2147483657"/>
          </pc:sldLayoutMkLst>
        </pc:sldLayoutChg>
      </pc:sldMasterChg>
      <pc:sldMasterChg chg="add addSldLayout">
        <pc:chgData name="Raximjon Raxmonjonov" userId="28c2af50d1c68d11" providerId="LiveId" clId="{DB1FEE29-F622-44C3-B6FB-49C6C66EDAC1}" dt="2026-07-29T12:18:42.476" v="0"/>
        <pc:sldMasterMkLst>
          <pc:docMk/>
          <pc:sldMasterMk cId="0" sldId="2147483658"/>
        </pc:sldMasterMkLst>
        <pc:sldLayoutChg chg="add">
          <pc:chgData name="Raximjon Raxmonjonov" userId="28c2af50d1c68d11" providerId="LiveId" clId="{DB1FEE29-F622-44C3-B6FB-49C6C66EDAC1}" dt="2026-07-29T12:18:42.476" v="0"/>
          <pc:sldLayoutMkLst>
            <pc:docMk/>
            <pc:sldMasterMk cId="0" sldId="2147483658"/>
            <pc:sldLayoutMk cId="0" sldId="2147483659"/>
          </pc:sldLayoutMkLst>
        </pc:sldLayoutChg>
      </pc:sldMaster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4403C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F172A"/>
                </a:solidFill>
                <a:latin typeface="Calibri"/>
              </a:rPr>
              <a:t>Yillik daromad dinamikasi ($)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B2C daromad</c:v>
                </c:pt>
              </c:strCache>
            </c:strRef>
          </c:tx>
          <c:spPr>
            <a:solidFill>
              <a:srgbClr val="0F172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1-yil</c:v>
                </c:pt>
                <c:pt idx="1">
                  <c:v>2-yil</c:v>
                </c:pt>
                <c:pt idx="2">
                  <c:v>3-yil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16000</c:v>
                </c:pt>
                <c:pt idx="1">
                  <c:v>66000</c:v>
                </c:pt>
                <c:pt idx="2">
                  <c:v>158000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05-42F8-AC37-E721036EF37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B2B SaaS daromad</c:v>
                </c:pt>
              </c:strCache>
            </c:strRef>
          </c:tx>
          <c:spPr>
            <a:solidFill>
              <a:srgbClr val="00B05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1-yil</c:v>
                </c:pt>
                <c:pt idx="1">
                  <c:v>2-yil</c:v>
                </c:pt>
                <c:pt idx="2">
                  <c:v>3-yil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14000</c:v>
                </c:pt>
                <c:pt idx="1">
                  <c:v>46000</c:v>
                </c:pt>
                <c:pt idx="2">
                  <c:v>92000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05-42F8-AC37-E721036EF3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A837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4403C"/>
                </a:solidFill>
                <a:latin typeface="Arial"/>
              </a:defRPr>
            </a:pPr>
            <a:endParaRPr lang="ru-RU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3D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A837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4403C"/>
                </a:solidFill>
                <a:latin typeface="Arial"/>
              </a:defRPr>
            </a:pPr>
            <a:endParaRPr lang="ru-RU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44403C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95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11508A83-64EA-3DB4-2EE0-3077993453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00" b="116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00" name="Scrim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F172A">
                  <a:alpha val="100000"/>
                </a:srgbClr>
              </a:gs>
              <a:gs pos="48000">
                <a:srgbClr val="0F172A">
                  <a:alpha val="100000"/>
                </a:srgbClr>
              </a:gs>
              <a:gs pos="78000">
                <a:srgbClr val="0F172A">
                  <a:alpha val="49200"/>
                </a:srgbClr>
              </a:gs>
              <a:gs pos="100000">
                <a:srgbClr val="0F172A">
                  <a:alpha val="19800"/>
                </a:srgbClr>
              </a:gs>
            </a:gsLst>
            <a:lin ang="0" scaled="0"/>
          </a:gra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640079" y="3630930"/>
            <a:ext cx="7086181" cy="514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80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SUN'IY INTELLEKT ASOSIDAGI RAQAMLI TURIZM EKOTIZIMI</a:t>
            </a:r>
            <a:endParaRPr lang="en-US" sz="16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58368" y="4343400"/>
            <a:ext cx="1463040" cy="0"/>
          </a:xfrm>
          <a:prstGeom prst="line">
            <a:avLst/>
          </a:prstGeom>
          <a:noFill/>
          <a:ln w="254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ru-RU"/>
          </a:p>
        </p:txBody>
      </p:sp>
      <p:sp>
        <p:nvSpPr>
          <p:cNvPr id="8" name="Text 5"/>
          <p:cNvSpPr/>
          <p:nvPr/>
        </p:nvSpPr>
        <p:spPr>
          <a:xfrm>
            <a:off x="640079" y="4343400"/>
            <a:ext cx="6604000" cy="1066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i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O'zbekiston bo'ylab sayohatni AI yordamida sodda, tezkor va shaffof qiladigan yagona platforma</a:t>
            </a:r>
            <a:endParaRPr lang="en-US" sz="2100" dirty="0">
              <a:solidFill>
                <a:schemeClr val="bg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4318000" cy="43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2026</a:t>
            </a:r>
            <a:r>
              <a:rPr lang="en-US" sz="1600" dirty="0">
                <a:solidFill>
                  <a:srgbClr val="F1EDE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  ·   </a:t>
            </a:r>
            <a:r>
              <a:rPr lang="en-US" sz="1600" dirty="0" err="1">
                <a:solidFill>
                  <a:srgbClr val="F1EDE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Andijon</a:t>
            </a:r>
            <a:r>
              <a:rPr lang="en-US" sz="1600" dirty="0">
                <a:solidFill>
                  <a:srgbClr val="F1EDE6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, O‘zbekiston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90C0450B-0350-4885-BD3E-8C9C5BC5AD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2913" y="191888"/>
            <a:ext cx="7158333" cy="353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611516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MUAMMO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584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O'zbekistondagi aktual turizm muammolari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Erkin sayohat qilishni </a:t>
            </a:r>
            <a:r>
              <a:rPr lang="en-US" sz="1500" i="1" dirty="0" err="1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istagan</a:t>
            </a:r>
            <a:r>
              <a:rPr lang="en-US" sz="1500" i="1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500" i="1" dirty="0" err="1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turistlar</a:t>
            </a:r>
            <a:r>
              <a:rPr lang="en-US" sz="1500" i="1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uchun barcha qulayliklarni o'z ichiga olgan yagona platforma yo'q.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3890" y="2144925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68680" y="232029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ru-RU" dirty="0">
              <a:solidFill>
                <a:srgbClr val="00B050"/>
              </a:solidFill>
              <a:highlight>
                <a:srgbClr val="00FF00"/>
              </a:highlight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32029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01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325880" y="2297430"/>
            <a:ext cx="3108960" cy="566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Ko'p tilli tezkor xizmat yo'q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868680" y="2859533"/>
            <a:ext cx="3197352" cy="7498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Chet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ellik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sayohatchilar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til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to‘sig‘i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sayohat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davomida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ko‘plab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noqulaylik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qiyinchiliklarni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yuzaga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keltiradi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10" name="Shape 8"/>
          <p:cNvSpPr/>
          <p:nvPr/>
        </p:nvSpPr>
        <p:spPr>
          <a:xfrm>
            <a:off x="4434840" y="21488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63440" y="232029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63440" y="232029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02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20640" y="229743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24/7 qo'llab-quvvatlash yo'q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663440" y="2857500"/>
            <a:ext cx="3108960" cy="896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Doimiy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qo‘llab-quvvatlash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tizimining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yo‘qligi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foydalanuvchilarning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istalgan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vaqtda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malakali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yordam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olish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imkoniyatini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cheklaydi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</a:p>
        </p:txBody>
      </p:sp>
      <p:sp>
        <p:nvSpPr>
          <p:cNvPr id="15" name="Shape 13"/>
          <p:cNvSpPr/>
          <p:nvPr/>
        </p:nvSpPr>
        <p:spPr>
          <a:xfrm>
            <a:off x="8229600" y="214884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458200" y="232029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458200" y="232029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03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915400" y="2299463"/>
            <a:ext cx="2407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Tur reja tuzish sekin va murakkab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458200" y="2886710"/>
            <a:ext cx="3256280" cy="8458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Shaxsiylashtirilgan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tur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rejasini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yaratish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ko‘p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vaqt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izlanish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turli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platformalardan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ma’lumot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yig‘ishni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talab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qiladi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0" name="Shape 18"/>
          <p:cNvSpPr/>
          <p:nvPr/>
        </p:nvSpPr>
        <p:spPr>
          <a:xfrm>
            <a:off x="643890" y="40690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68680" y="42368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68680" y="423687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04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325880" y="421401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Ma'lumotlar chalkash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868680" y="4727090"/>
            <a:ext cx="3253740" cy="8864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Rasmiy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norasmiy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manbalardagi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ma’lumotlar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o‘zaro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farq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qiladi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bu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esa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foydalanuvchini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chalkashtirib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ishonchli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ma’lumotni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tanlashni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qiyinlashtiradi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5" name="Shape 23"/>
          <p:cNvSpPr/>
          <p:nvPr/>
        </p:nvSpPr>
        <p:spPr>
          <a:xfrm>
            <a:off x="4434840" y="40690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63440" y="42368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4663440" y="423687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05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20640" y="422417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Navigatsiya tizimi kuchsiz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663440" y="4808070"/>
            <a:ext cx="3108960" cy="57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Ko‘plab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mahalliy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obyektlar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xaritalarda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to‘liq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ko‘rsatilmagan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yoki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ularga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aniq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yo‘nalish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mavjud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emas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30" name="Shape 28"/>
          <p:cNvSpPr/>
          <p:nvPr/>
        </p:nvSpPr>
        <p:spPr>
          <a:xfrm>
            <a:off x="8229600" y="4069080"/>
            <a:ext cx="356616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458200" y="423687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458200" y="423687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06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915400" y="419115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Soxta sharhlar ko'p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458200" y="4773243"/>
            <a:ext cx="3108960" cy="6139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Soxta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manipulyatsiya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qilingan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sharhlar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sababli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xizmatlar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sifatini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xolis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baholash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qiyinlashadi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35" name="Text 33"/>
          <p:cNvSpPr/>
          <p:nvPr/>
        </p:nvSpPr>
        <p:spPr>
          <a:xfrm>
            <a:off x="640080" y="6350000"/>
            <a:ext cx="889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Manba: TROVA jamoasining bozor kuzatuvi va foydalanuvchi intervyulari (2026)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02651232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YECHIM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Nega TROVA kerak?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730752" y="16230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 — bitta platformada hammasi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54480" y="246888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" y="3383280"/>
            <a:ext cx="2496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Transport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3712" y="4023360"/>
            <a:ext cx="2289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Transfer, taksi, ijara — bir joydan buyurtma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10712" y="214884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25112" y="246888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25112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410712" y="3383280"/>
            <a:ext cx="2496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Marketplace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514344" y="4023360"/>
            <a:ext cx="2289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Mehmonxona, restoran, gid xizmatlari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81344" y="214884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95744" y="246888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095744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81344" y="3383280"/>
            <a:ext cx="2496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TROVA AI chatbot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84976" y="4023360"/>
            <a:ext cx="2289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Individual tur rejasini AI yaratadi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51976" y="214884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866376" y="246888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 sz="20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66376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4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951976" y="3383280"/>
            <a:ext cx="24963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Smart Review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055608" y="4023360"/>
            <a:ext cx="2289048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Minglab sharhlardan foydali xulosa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Maqsad</a:t>
            </a:r>
            <a:r>
              <a:rPr lang="en-US" sz="1500" b="1" dirty="0">
                <a:solidFill>
                  <a:srgbClr val="B4530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: </a:t>
            </a: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O'zbekiston turizmi uchun yagona AI ekotizim — oddiy ilova emas, butun sanoatni raqamlashtirish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6350000"/>
            <a:ext cx="889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Manba: TROVA mahsulot konsepsiyasi (2026)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03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276410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MAHSULOT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TROVA qanday ishlaydi — 4 </a:t>
            </a:r>
            <a:r>
              <a:rPr lang="en-US" sz="30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qadam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316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Rejalashtirishdan sayohat tugagach sharh yozishgacha — bitta ilovada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17551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54480" y="249174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54480" y="24765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409950"/>
            <a:ext cx="1965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Sayohat</a:t>
            </a: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rejasini</a:t>
            </a: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tuzish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14400" y="405003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TROVA AI chatbot 4 savol asosida individual marshrut tuzadi: kun, byudjet, viloyat, qiziqish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410712" y="217551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25112" y="24955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25112" y="249555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85032" y="3409950"/>
            <a:ext cx="208330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Xizmatlar</a:t>
            </a:r>
            <a:r>
              <a:rPr lang="en-US" sz="16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solidFill>
                  <a:schemeClr val="bg2">
                    <a:lumMod val="10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</a:t>
            </a:r>
            <a:r>
              <a:rPr lang="en-US" sz="1600" b="1" kern="1200" dirty="0" err="1">
                <a:solidFill>
                  <a:schemeClr val="bg2">
                    <a:lumMod val="1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ʻlimida</a:t>
            </a:r>
            <a:r>
              <a:rPr lang="en-US" sz="1600" b="1" kern="1200" dirty="0">
                <a:solidFill>
                  <a:schemeClr val="bg2">
                    <a:lumMod val="1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kern="1200" dirty="0" err="1">
                <a:solidFill>
                  <a:schemeClr val="bg2">
                    <a:lumMod val="1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bron</a:t>
            </a:r>
            <a:r>
              <a:rPr lang="en-US" sz="1600" b="1" kern="1200" dirty="0">
                <a:solidFill>
                  <a:schemeClr val="bg2">
                    <a:lumMod val="1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kern="1200" dirty="0" err="1">
                <a:solidFill>
                  <a:schemeClr val="bg2">
                    <a:lumMod val="10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qilish</a:t>
            </a:r>
            <a:endParaRPr lang="en-US" sz="1600" b="1" dirty="0">
              <a:solidFill>
                <a:schemeClr val="bg2">
                  <a:lumMod val="10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685032" y="405003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Mehmonxona, transport, gid va ekskursiya — bitta savat, bitta to'lov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6181344" y="217551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095744" y="24955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095744" y="249555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18326" y="3402330"/>
            <a:ext cx="20406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Platforma</a:t>
            </a: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bilan</a:t>
            </a: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birga</a:t>
            </a: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sayohat</a:t>
            </a: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qilish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55664" y="405003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Offline xarita, AR navigatsiya va 24/7 ko'p tilli yordam yo'lda ham ishlaydi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970264" y="217551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866376" y="2495550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66376" y="249555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4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046464" y="3402330"/>
            <a:ext cx="232562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Shaffof</a:t>
            </a: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baholash</a:t>
            </a: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tizimi</a:t>
            </a: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yordamida</a:t>
            </a:r>
            <a:r>
              <a:rPr lang="en-US" sz="16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1600" b="1" dirty="0" err="1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baholash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226296" y="4050030"/>
            <a:ext cx="1965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SmartReview soxta sharhlarni filtrlaydi — keyingi tavsiyalar aniqroq bo'ladi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Natija</a:t>
            </a:r>
            <a:r>
              <a:rPr lang="en-US" sz="1500" b="1" dirty="0">
                <a:solidFill>
                  <a:srgbClr val="B4530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: </a:t>
            </a: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5-6 xil ilova va vosita o'rniga bitta akkaunt, bitta to'lov, 6 tilda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640080" y="6350000"/>
            <a:ext cx="889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Manba: TROVA mahsulot spetsifikatsiyasi (2026)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04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538501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AI XUSUSIYATLAR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5 ta AI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imkoniyati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—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raqobatda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ustunlik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yaratadi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15338" cy="4160520"/>
          </a:xfrm>
          <a:prstGeom prst="roundRect">
            <a:avLst>
              <a:gd name="adj" fmla="val 544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672" y="1920240"/>
            <a:ext cx="1686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</a:t>
            </a:r>
            <a:endParaRPr lang="en-US" sz="2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804672" y="2514600"/>
            <a:ext cx="16861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TROVA AI chatbot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8231" y="34290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Sayohat davomida real vaqtda tavsiya va yordam beruvchi suhbat yordamchisi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856586" y="1691640"/>
            <a:ext cx="2015338" cy="4160520"/>
          </a:xfrm>
          <a:prstGeom prst="roundRect">
            <a:avLst>
              <a:gd name="adj" fmla="val 544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21178" y="1920240"/>
            <a:ext cx="1686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</a:t>
            </a:r>
            <a:endParaRPr lang="en-US" sz="2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021178" y="2514600"/>
            <a:ext cx="16861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AI Tour Generator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954737" y="34290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 ta savolga javob → individual tur: necha kun, necha kishi, qaysi viloyatlar, qancha byudjet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73091" y="1691640"/>
            <a:ext cx="2015338" cy="4160520"/>
          </a:xfrm>
          <a:prstGeom prst="roundRect">
            <a:avLst>
              <a:gd name="adj" fmla="val 544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37683" y="1920240"/>
            <a:ext cx="1686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</a:t>
            </a:r>
            <a:endParaRPr lang="en-US" sz="2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237683" y="2514600"/>
            <a:ext cx="16861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SmartReview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71242" y="34290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Minglab sharhni tahlil qilib qisqa xulosa beradi (masalan: 87% tavsiya qiladi) va kuchli/kuchsiz tomonlarni ajratadi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289597" y="1691640"/>
            <a:ext cx="2015338" cy="4160520"/>
          </a:xfrm>
          <a:prstGeom prst="roundRect">
            <a:avLst>
              <a:gd name="adj" fmla="val 544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54189" y="1920240"/>
            <a:ext cx="1686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4</a:t>
            </a:r>
            <a:endParaRPr lang="en-US" sz="2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454189" y="2514600"/>
            <a:ext cx="16861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O'zbekiston uchun maxsus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87748" y="34290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Mahalliy lokatsiyalar, restoranlar, sertifikatlangan gidlar, ichki transport — bir joyda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506102" y="1691640"/>
            <a:ext cx="2015338" cy="4160520"/>
          </a:xfrm>
          <a:prstGeom prst="roundRect">
            <a:avLst>
              <a:gd name="adj" fmla="val 544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670694" y="1920240"/>
            <a:ext cx="1686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5</a:t>
            </a:r>
            <a:endParaRPr lang="en-US" sz="2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670694" y="2514600"/>
            <a:ext cx="1686154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Yagona ekotizim</a:t>
            </a: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604253" y="3429000"/>
            <a:ext cx="1828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Barcha xizmatlar bitta ilovada — alohida platformalarga ehtiyoj qolmaydi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05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8132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QO'SHIMCHA FUNKSIONALLAR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Keyingi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bosqichda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qo‘shiladigan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funksiyalar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2015338" cy="4160520"/>
          </a:xfrm>
          <a:prstGeom prst="roundRect">
            <a:avLst>
              <a:gd name="adj" fmla="val 544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672" y="1920240"/>
            <a:ext cx="1686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</a:t>
            </a:r>
            <a:endParaRPr lang="en-US" sz="2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201533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AR Navigatsiya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670560" y="3429000"/>
            <a:ext cx="198485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Kamera orqali shahar bo'ylab yo'l ko'rsatish; yodgorlik ustida real vaqt ma'lumot chiqadi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856586" y="1691640"/>
            <a:ext cx="2015338" cy="4160520"/>
          </a:xfrm>
          <a:prstGeom prst="roundRect">
            <a:avLst>
              <a:gd name="adj" fmla="val 544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21178" y="1920240"/>
            <a:ext cx="1686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</a:t>
            </a:r>
            <a:endParaRPr lang="en-US" sz="2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856586" y="2514600"/>
            <a:ext cx="201533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AI Guide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87066" y="3429000"/>
            <a:ext cx="198485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Ovozli gid har bir obyekt tarixini 6 tilda so'zlab beradi — internetsiz ham ishlaydi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73091" y="1691640"/>
            <a:ext cx="2015338" cy="4160520"/>
          </a:xfrm>
          <a:prstGeom prst="roundRect">
            <a:avLst>
              <a:gd name="adj" fmla="val 544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237683" y="1920240"/>
            <a:ext cx="1686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</a:t>
            </a:r>
            <a:endParaRPr lang="en-US" sz="2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073091" y="2514600"/>
            <a:ext cx="201533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Offline rejim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03571" y="3429000"/>
            <a:ext cx="198485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Yuklab olingan marshrut, xarita va bronlar aloqa bo'lmagan hududlarda ham ochiladi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289597" y="1691640"/>
            <a:ext cx="2015338" cy="4160520"/>
          </a:xfrm>
          <a:prstGeom prst="roundRect">
            <a:avLst>
              <a:gd name="adj" fmla="val 544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454189" y="1920240"/>
            <a:ext cx="1686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4</a:t>
            </a:r>
            <a:endParaRPr lang="en-US" sz="2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289597" y="2514600"/>
            <a:ext cx="201533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TROVA Wallet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320077" y="3429000"/>
            <a:ext cx="198485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Yagona to'lov va cashback: barcha bronlar, chiptalar va chek bitta hisobda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9506102" y="1691640"/>
            <a:ext cx="2015338" cy="4160520"/>
          </a:xfrm>
          <a:prstGeom prst="roundRect">
            <a:avLst>
              <a:gd name="adj" fmla="val 544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670694" y="1920240"/>
            <a:ext cx="168615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5</a:t>
            </a:r>
            <a:endParaRPr lang="en-US" sz="2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506102" y="2514600"/>
            <a:ext cx="201533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Analytics Dashboard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536582" y="3429000"/>
            <a:ext cx="1984858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Hamkorlar uchun talab, mavsumiylik va mijoz xulqi bo'yicha B2B tahlil paneli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97366679"/>
      </p:ext>
    </p:extLst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USTUNLIKLAR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Nima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aynan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TROVA?</a:t>
            </a:r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Platformamizni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boshqalardan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ajratib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turadigan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4 ta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asosiy</a:t>
            </a:r>
            <a:r>
              <a:rPr lang="en-US" sz="1600" i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i="1" dirty="0" err="1">
                <a:latin typeface="Cambria" panose="02040503050406030204" pitchFamily="18" charset="0"/>
                <a:ea typeface="Cambria" panose="02040503050406030204" pitchFamily="18" charset="0"/>
              </a:rPr>
              <a:t>ustunlik</a:t>
            </a:r>
            <a:endParaRPr lang="en-US" sz="1600" i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564127" y="2417707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64127" y="2417707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01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855677" y="3243393"/>
            <a:ext cx="211402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 err="1">
                <a:latin typeface="Cambria" panose="02040503050406030204" pitchFamily="18" charset="0"/>
                <a:ea typeface="Cambria" panose="02040503050406030204" pitchFamily="18" charset="0"/>
              </a:rPr>
              <a:t>Lokal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b="1" dirty="0" err="1">
                <a:latin typeface="Cambria" panose="02040503050406030204" pitchFamily="18" charset="0"/>
                <a:ea typeface="Cambria" panose="02040503050406030204" pitchFamily="18" charset="0"/>
              </a:rPr>
              <a:t>ma'lumotlar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700" b="1" dirty="0" err="1">
                <a:latin typeface="Cambria" panose="02040503050406030204" pitchFamily="18" charset="0"/>
                <a:ea typeface="Cambria" panose="02040503050406030204" pitchFamily="18" charset="0"/>
              </a:rPr>
              <a:t>bazasi</a:t>
            </a:r>
            <a:endParaRPr lang="en-US" sz="17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3931921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Global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platformalarda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yetarli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darajada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mavjud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bo‘lmagan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mahalliy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xizmatlar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obyektlar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haqidagi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ishonchli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ma'lumotlarni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taqdim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etadi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10" name="Shape 8"/>
          <p:cNvSpPr/>
          <p:nvPr/>
        </p:nvSpPr>
        <p:spPr>
          <a:xfrm>
            <a:off x="3410712" y="214884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325112" y="2417707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34759" y="2417707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02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626309" y="3243393"/>
            <a:ext cx="211402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Vertikal integratsiya</a:t>
            </a:r>
            <a:endParaRPr lang="en-US" sz="17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76539" y="3931921"/>
            <a:ext cx="2435466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Reja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bron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navigatsiya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bitta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platformada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Foydalanuvchi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ma'lumotlari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AI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tavsiyalarini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yanada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aniq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qiladi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15" name="Shape 13"/>
          <p:cNvSpPr/>
          <p:nvPr/>
        </p:nvSpPr>
        <p:spPr>
          <a:xfrm>
            <a:off x="6181344" y="214884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105391" y="2417707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05391" y="2417707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03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396941" y="3243393"/>
            <a:ext cx="211402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Ko'p tilli AI</a:t>
            </a:r>
            <a:endParaRPr lang="en-US" sz="17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50446" y="3931921"/>
            <a:ext cx="233893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O‘zbek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rus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ingliz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xitoy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,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koreys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turk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tillarida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24/7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xizmat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ko‘rsatadi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hamda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mahalliy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sharoitga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mos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javob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beradi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0" name="Shape 18"/>
          <p:cNvSpPr/>
          <p:nvPr/>
        </p:nvSpPr>
        <p:spPr>
          <a:xfrm>
            <a:off x="8951976" y="2148840"/>
            <a:ext cx="2514600" cy="3200400"/>
          </a:xfrm>
          <a:prstGeom prst="roundRect">
            <a:avLst>
              <a:gd name="adj" fmla="val 5091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876023" y="2417707"/>
            <a:ext cx="685800" cy="685800"/>
          </a:xfrm>
          <a:prstGeom prst="roundRect">
            <a:avLst>
              <a:gd name="adj" fmla="val 50000"/>
            </a:avLst>
          </a:prstGeom>
          <a:solidFill>
            <a:srgbClr val="00B050"/>
          </a:solidFill>
          <a:ln/>
        </p:spPr>
        <p:txBody>
          <a:bodyPr/>
          <a:lstStyle/>
          <a:p>
            <a:pPr algn="ctr"/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876023" y="2417707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04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167573" y="3243393"/>
            <a:ext cx="211402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B2B </a:t>
            </a:r>
            <a:r>
              <a:rPr lang="en-US" sz="1700" b="1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700" b="1" dirty="0">
                <a:latin typeface="Cambria" panose="02040503050406030204" pitchFamily="18" charset="0"/>
                <a:ea typeface="Cambria" panose="02040503050406030204" pitchFamily="18" charset="0"/>
              </a:rPr>
              <a:t> B2C </a:t>
            </a:r>
            <a:r>
              <a:rPr lang="en-US" sz="1700" b="1" dirty="0" err="1">
                <a:latin typeface="Cambria" panose="02040503050406030204" pitchFamily="18" charset="0"/>
                <a:ea typeface="Cambria" panose="02040503050406030204" pitchFamily="18" charset="0"/>
              </a:rPr>
              <a:t>ekotizim</a:t>
            </a:r>
            <a:endParaRPr lang="en-US" sz="17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021078" y="3931921"/>
            <a:ext cx="2338939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Hamkorlar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foydalanuvchilar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soni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oshgani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sari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platformaning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qiymati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imkoniyatlari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ham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ortib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boradi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5" name="Text 23"/>
          <p:cNvSpPr/>
          <p:nvPr/>
        </p:nvSpPr>
        <p:spPr>
          <a:xfrm>
            <a:off x="640080" y="56235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Himoya</a:t>
            </a:r>
            <a:r>
              <a:rPr lang="en-US" sz="1600" b="1" dirty="0">
                <a:solidFill>
                  <a:srgbClr val="B4530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: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Mahalliy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ma'lumotlar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bazasi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hamkorlar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tarmog'ini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yaratish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vaqt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talab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qiladi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. Bu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esa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raqobatchilar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uchun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katta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to'siq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latin typeface="Cambria" panose="02040503050406030204" pitchFamily="18" charset="0"/>
                <a:ea typeface="Cambria" panose="02040503050406030204" pitchFamily="18" charset="0"/>
              </a:rPr>
              <a:t>hisoblanadi</a:t>
            </a: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26" name="Text 24"/>
          <p:cNvSpPr/>
          <p:nvPr/>
        </p:nvSpPr>
        <p:spPr>
          <a:xfrm>
            <a:off x="640080" y="6350000"/>
            <a:ext cx="889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Manba: TROVA raqobat tahlili (2026)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07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02076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RAQOBAT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Raqobatchilar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bilan</a:t>
            </a: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3000" b="1" dirty="0" err="1">
                <a:latin typeface="Cambria" panose="02040503050406030204" pitchFamily="18" charset="0"/>
                <a:ea typeface="Cambria" panose="02040503050406030204" pitchFamily="18" charset="0"/>
              </a:rPr>
              <a:t>taqqoslash</a:t>
            </a:r>
            <a:endParaRPr lang="en-US" sz="3000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601784"/>
              </p:ext>
            </p:extLst>
          </p:nvPr>
        </p:nvGraphicFramePr>
        <p:xfrm>
          <a:off x="640080" y="1691640"/>
          <a:ext cx="10881360" cy="3878580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Xususiyat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Google Maps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Booking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Tripadvisor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ChatGPT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Agentlik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TROVA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Lokatsiya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Mehmonxona</a:t>
                      </a: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bron</a:t>
                      </a: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qilish</a:t>
                      </a:r>
                      <a:endParaRPr lang="en-US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Sharh</a:t>
                      </a: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</a:t>
                      </a: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baholash</a:t>
                      </a:r>
                      <a:endParaRPr lang="en-US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AI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AI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yordamchi</a:t>
                      </a:r>
                      <a:endParaRPr lang="en-US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Gid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va</a:t>
                      </a: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ekskursiyalar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O'zbekistonga</a:t>
                      </a: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mos</a:t>
                      </a: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yechim</a:t>
                      </a:r>
                      <a:endParaRPr lang="en-US" sz="1400" b="1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✓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Barcha</a:t>
                      </a: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xizmatlar</a:t>
                      </a: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bitta</a:t>
                      </a:r>
                      <a:r>
                        <a:rPr lang="en-US" sz="1400" b="1" dirty="0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 </a:t>
                      </a:r>
                      <a:r>
                        <a:rPr lang="en-US" sz="1400" b="1" dirty="0" err="1"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platformada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—</a:t>
                      </a:r>
                      <a:endParaRPr lang="en-US" sz="1400" dirty="0"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HAMMASI</a:t>
                      </a:r>
                      <a:endParaRPr lang="en-US" sz="1400" dirty="0">
                        <a:solidFill>
                          <a:srgbClr val="FF0000"/>
                        </a:solidFill>
                        <a:latin typeface="Cambria" panose="02040503050406030204" pitchFamily="18" charset="0"/>
                        <a:ea typeface="Cambria" panose="02040503050406030204" pitchFamily="18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i="1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TROVA — bitta platformada TROVA AI chatbot + AI TROVA  Generator + SmartReview + Marketplace + Local Focus + 24/7 qo'llab-quvvatlash. Boshqa platformalar faqat bitta funksiyani bajaradi.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08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32614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BOZOR</a:t>
            </a:r>
            <a:r>
              <a:rPr lang="en-US" sz="1400" b="1" kern="0" spc="300" dirty="0">
                <a:solidFill>
                  <a:srgbClr val="B4530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 </a:t>
            </a: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HAJMI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Bozor hajmi: TAM / SAM / SOM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TAM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$527 mln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717800"/>
            <a:ext cx="2907792" cy="584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O'zbekiston onlayn sayohat bandlash bozori (2025)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399" y="3378200"/>
            <a:ext cx="3053593" cy="187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2030 yilda $873 mln — CAGR 10.6%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2030 da daromadning 88% onlayn kanallardan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Kontekst: umumiy turizm eksporti $4.4 mlrd (2025, 11 oy)</a:t>
            </a:r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26864" y="19659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SAM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26864" y="228600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$271 mln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26864" y="2717800"/>
            <a:ext cx="2907792" cy="584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Mehmonxona va bog'liq xizmatlar segmenti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26864" y="3378200"/>
            <a:ext cx="2973562" cy="187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Bandlash hajmi (GMV) bo'yicha eng yirik segment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TROVA komissiyasi 12% → ~$33 mln daromad puli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Ustiga 23.7 mln ichki sayohat talabi (2025)</a:t>
            </a:r>
          </a:p>
        </p:txBody>
      </p:sp>
      <p:sp>
        <p:nvSpPr>
          <p:cNvPr id="14" name="Shape 12"/>
          <p:cNvSpPr/>
          <p:nvPr/>
        </p:nvSpPr>
        <p:spPr>
          <a:xfrm>
            <a:off x="8065008" y="1691640"/>
            <a:ext cx="3456432" cy="3566160"/>
          </a:xfrm>
          <a:prstGeom prst="roundRect">
            <a:avLst>
              <a:gd name="adj" fmla="val 3175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39328" y="19659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SOM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39328" y="228600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$250K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39328" y="2717800"/>
            <a:ext cx="2907792" cy="584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TROVA 3-yillik real maqsadi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39327" y="3378200"/>
            <a:ext cx="3010977" cy="187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F8F6F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Komissiya pulining ~0.8% ulushi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F8F6F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2,100 faol foydalanuvchi/oy (Toshkent + Samarqand)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F8F6F2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80+ B2B hamkor: mehmonxona, gid, transport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6350000"/>
            <a:ext cx="1016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Manba: Statista Travel &amp; Tourism Uzbekistan (2025), O'zbekiston Turizm qo'mitasi (2025), UN Tourism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09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0" name="Insight"/>
          <p:cNvSpPr txBox="1"/>
          <p:nvPr/>
        </p:nvSpPr>
        <p:spPr>
          <a:xfrm>
            <a:off x="635000" y="5384800"/>
            <a:ext cx="108839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Bo‘shliq:</a:t>
            </a:r>
            <a:r>
              <a:rPr lang="en-US" sz="1400" b="1" dirty="0">
                <a:solidFill>
                  <a:srgbClr val="B45309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bozor $4.4 mlrd ga yetdi, lekin raqamli infratuzilma ortda qoldi — TROVA aynan shu bo‘shliqni to‘ldiradi</a:t>
            </a:r>
          </a:p>
        </p:txBody>
      </p:sp>
    </p:spTree>
    <p:extLst>
      <p:ext uri="{BB962C8B-B14F-4D97-AF65-F5344CB8AC3E}">
        <p14:creationId xmlns:p14="http://schemas.microsoft.com/office/powerpoint/2010/main" val="899971217"/>
      </p:ext>
    </p:extLst>
  </p:cSld>
  <p:clrMapOvr>
    <a:masterClrMapping/>
  </p:clrMapOvr>
  <p:transition spd="slow">
    <p:wheel spokes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BIZNES MODEL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6 ta daromad oqimi: har biri mustaqil va masshtablanuvchi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89100"/>
            <a:ext cx="3429000" cy="1625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67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Mehmonxonalar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590800" y="1790700"/>
            <a:ext cx="1295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10-20%</a:t>
            </a:r>
            <a:endParaRPr lang="en-US" sz="15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" y="2235200"/>
            <a:ext cx="29718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60 bron/oy × $80 × 12% = $576/oy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270248" y="1689100"/>
            <a:ext cx="3429000" cy="1625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498848" y="1828800"/>
            <a:ext cx="167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Restoranlar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223000" y="1790700"/>
            <a:ext cx="1295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$50/oy</a:t>
            </a:r>
            <a:endParaRPr lang="en-US" sz="15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498848" y="2235200"/>
            <a:ext cx="29718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5 ta restoran × $50 = $250/oy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900416" y="1689100"/>
            <a:ext cx="3429000" cy="1625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129016" y="1828800"/>
            <a:ext cx="167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Gid xizmatlari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855200" y="1790700"/>
            <a:ext cx="1295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10-25%</a:t>
            </a:r>
            <a:endParaRPr lang="en-US" sz="15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129016" y="2235200"/>
            <a:ext cx="29718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22 buyurtma/oy × $50 × 15% = $165/oy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0080" y="3505200"/>
            <a:ext cx="3429000" cy="1625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68680" y="3644900"/>
            <a:ext cx="167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Transport xizmatlari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2590800" y="3606800"/>
            <a:ext cx="1295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5-15%</a:t>
            </a:r>
            <a:endParaRPr lang="en-US" sz="15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68680" y="4051300"/>
            <a:ext cx="29718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45 buyurtma/oy × $20 × 12% = $108/oy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70248" y="3505200"/>
            <a:ext cx="3429000" cy="1625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498848" y="3644900"/>
            <a:ext cx="167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Ekskursiyalar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223000" y="3606800"/>
            <a:ext cx="1295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10-20%</a:t>
            </a:r>
            <a:endParaRPr lang="en-US" sz="15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498848" y="4051300"/>
            <a:ext cx="29718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26 ta × $60 × 15% = $234/oy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900416" y="3505200"/>
            <a:ext cx="3429000" cy="162560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129016" y="3644900"/>
            <a:ext cx="167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B2B SaaS Platformasi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855200" y="3606800"/>
            <a:ext cx="1295400" cy="40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$95/oy</a:t>
            </a:r>
            <a:endParaRPr lang="en-US" sz="15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129016" y="4051300"/>
            <a:ext cx="2971800" cy="711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12 hamkor × $95/oy = $1,140/oy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40080" y="5461000"/>
            <a:ext cx="4695318" cy="685800"/>
          </a:xfrm>
          <a:prstGeom prst="roundRect">
            <a:avLst>
              <a:gd name="adj" fmla="val 13333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349928" y="5528345"/>
            <a:ext cx="4754880" cy="58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≈$30,000  </a:t>
            </a:r>
            <a:r>
              <a:rPr lang="en-US" sz="1400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(1-yillik </a:t>
            </a:r>
            <a:r>
              <a:rPr lang="en-US" sz="1400" dirty="0" err="1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jami</a:t>
            </a:r>
            <a:r>
              <a:rPr lang="en-US" sz="1400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 </a:t>
            </a:r>
            <a:r>
              <a:rPr lang="en-US" sz="1400" dirty="0" err="1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daromad</a:t>
            </a:r>
            <a:r>
              <a:rPr lang="en-US" sz="1400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)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943600" y="5461000"/>
            <a:ext cx="5577840" cy="7747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Model kuchi: TROVA xizmatlarni o'zi boshqarmaydi — mavjud xizmatlarni birlashtirib, har tranzaksiyadan ulush oladi (asset-light model).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9133031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PROGNOZ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3-yillik moliyaviy prognoz: 3-yilda $250K yillik daromad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734051199"/>
              </p:ext>
            </p:extLst>
          </p:nvPr>
        </p:nvGraphicFramePr>
        <p:xfrm>
          <a:off x="640080" y="1691640"/>
          <a:ext cx="5760720" cy="431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506969"/>
              </p:ext>
            </p:extLst>
          </p:nvPr>
        </p:nvGraphicFramePr>
        <p:xfrm>
          <a:off x="6675120" y="1691640"/>
          <a:ext cx="4892040" cy="41910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Ko'rsatkich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1-yil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2-yil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3-yil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O'sish (3Y)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Faol foydalanuvchi/oy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300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1,000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2,100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+600%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B2C yillik daromad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$16,000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$66,000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$158,000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+888%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B2B SaaS yillik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$14,000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$46,000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$92,000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</a:rPr>
                        <a:t>+557%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JAMI YILLIK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$30,000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$112,000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$250,000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+733%</a:t>
                      </a:r>
                      <a:endParaRPr lang="en-US" sz="1300" dirty="0"/>
                    </a:p>
                  </a:txBody>
                  <a:tcPr marL="45720" marR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350000"/>
            <a:ext cx="889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Manba: TROVA moliyaviy modeli (2026)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11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031348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O'SISH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3 bosqichli o'sish strategiyasi: 2026–2030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416052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1-BOSQICH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2026–2027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O'zbekiston bozori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9077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1,000+ faol foydalanuvchi/oy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40+ xizmat ko‘rsatuvchi hamkor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B2B SaaS ishga tushirish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TROVA AI chatbot beta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Marketplace to'liq ishga tushirish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56432" cy="4160520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26864" y="19659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2-BOSQICH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26864" y="228600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2027–2028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26864" y="2743200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Markaziy Osiyo kengaytmasi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26864" y="3337560"/>
            <a:ext cx="29077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Qozog'iston, Qirg'iziston, Tojikiston, Turkmaniston bozorlari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2,100+ faol foydalanuvchi/oy · 80+ hamkor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Mintaqaviy hamkorliklar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AI Translator (6+ til)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65008" y="1691640"/>
            <a:ext cx="3456432" cy="4160520"/>
          </a:xfrm>
          <a:prstGeom prst="roundRect">
            <a:avLst>
              <a:gd name="adj" fmla="val 3175"/>
            </a:avLst>
          </a:prstGeom>
          <a:solidFill>
            <a:srgbClr val="00B050"/>
          </a:solidFill>
          <a:ln/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39328" y="19659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3-BOSQICH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39328" y="228600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2029–2030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39328" y="2743200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Mintaqaviy AI platforma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39328" y="3337560"/>
            <a:ext cx="2907792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AI Guide — real vaqt gid xizmati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AR Navigation — shaharda kengaytirilgan haqiqat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Tourism Analytics Dashboard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FCFBF9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SmartReview Analytics — B2B tahliliy platforma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1016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YAKUNIY MAQSAD: Markaziy Osiyodagi eng yirik sun'iy intellekt asosidagi turizm platformasi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12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16724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9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JAMOA 										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latin typeface="Cambria" panose="02040503050406030204" pitchFamily="18" charset="0"/>
                <a:ea typeface="Cambria" panose="02040503050406030204" pitchFamily="18" charset="0"/>
              </a:rPr>
              <a:t>Founder Team</a:t>
            </a:r>
          </a:p>
        </p:txBody>
      </p:sp>
      <p:sp>
        <p:nvSpPr>
          <p:cNvPr id="4" name="Shape 2"/>
          <p:cNvSpPr/>
          <p:nvPr/>
        </p:nvSpPr>
        <p:spPr>
          <a:xfrm>
            <a:off x="635000" y="1689100"/>
            <a:ext cx="345440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356100" y="1689100"/>
            <a:ext cx="345440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8077200" y="1689100"/>
            <a:ext cx="345440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4D113A3-60C5-25F1-AA66-01FC1B17A1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900"/>
          <a:stretch>
            <a:fillRect/>
          </a:stretch>
        </p:blipFill>
        <p:spPr>
          <a:xfrm>
            <a:off x="1473200" y="1993900"/>
            <a:ext cx="1778000" cy="1778000"/>
          </a:xfrm>
          <a:prstGeom prst="ellipse">
            <a:avLst/>
          </a:prstGeom>
          <a:ln w="19050">
            <a:solidFill>
              <a:srgbClr val="B45309"/>
            </a:solidFill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5B1AD856-F247-AE80-6D51-3BE910F15E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5000"/>
          <a:stretch>
            <a:fillRect/>
          </a:stretch>
        </p:blipFill>
        <p:spPr>
          <a:xfrm>
            <a:off x="5194300" y="1993900"/>
            <a:ext cx="1778000" cy="1778000"/>
          </a:xfrm>
          <a:prstGeom prst="ellipse">
            <a:avLst/>
          </a:prstGeom>
          <a:ln w="19050">
            <a:solidFill>
              <a:srgbClr val="B45309"/>
            </a:solidFill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27E93F6B-16A1-CCCB-E778-7090C362C4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300"/>
          <a:stretch>
            <a:fillRect/>
          </a:stretch>
        </p:blipFill>
        <p:spPr>
          <a:xfrm>
            <a:off x="8915400" y="1993900"/>
            <a:ext cx="1778000" cy="1778000"/>
          </a:xfrm>
          <a:prstGeom prst="ellipse">
            <a:avLst/>
          </a:prstGeom>
          <a:ln w="19050">
            <a:solidFill>
              <a:srgbClr val="B45309"/>
            </a:solidFill>
          </a:ln>
        </p:spPr>
      </p:pic>
      <p:sp>
        <p:nvSpPr>
          <p:cNvPr id="6" name="Text 3"/>
          <p:cNvSpPr/>
          <p:nvPr/>
        </p:nvSpPr>
        <p:spPr>
          <a:xfrm>
            <a:off x="660400" y="4025900"/>
            <a:ext cx="3428999" cy="35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Qobiljonov Abdulaziz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838200" y="4399280"/>
            <a:ext cx="30480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UX/UI Designer</a:t>
            </a:r>
            <a:endParaRPr lang="en-US" sz="15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0" name="Bio0"/>
          <p:cNvSpPr txBox="1"/>
          <p:nvPr/>
        </p:nvSpPr>
        <p:spPr>
          <a:xfrm>
            <a:off x="838200" y="4998720"/>
            <a:ext cx="3048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/>
            <a:r>
              <a:rPr lang="en-US" sz="1600" dirty="0"/>
              <a:t>UX • UI • Brand Design</a:t>
            </a:r>
          </a:p>
        </p:txBody>
      </p:sp>
      <p:sp>
        <p:nvSpPr>
          <p:cNvPr id="10" name="Text 6"/>
          <p:cNvSpPr/>
          <p:nvPr/>
        </p:nvSpPr>
        <p:spPr>
          <a:xfrm>
            <a:off x="4381500" y="4025900"/>
            <a:ext cx="3428999" cy="35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Axmadaliyev Shoyadbek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4559300" y="4399280"/>
            <a:ext cx="30480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Founder &amp; Product Lead</a:t>
            </a:r>
            <a:endParaRPr lang="en-US" sz="15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1" name="Bio1"/>
          <p:cNvSpPr txBox="1"/>
          <p:nvPr/>
        </p:nvSpPr>
        <p:spPr>
          <a:xfrm>
            <a:off x="4559300" y="4998720"/>
            <a:ext cx="3048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1600" dirty="0"/>
              <a:t>Product Strategy • AI • Business</a:t>
            </a:r>
            <a:endParaRPr lang="en-US" sz="1500" dirty="0">
              <a:solidFill>
                <a:srgbClr val="44403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8102600" y="4025900"/>
            <a:ext cx="3428999" cy="355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Raxmonjonov Raximjon</a:t>
            </a:r>
            <a:endParaRPr lang="en-US" sz="22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8280400" y="4399280"/>
            <a:ext cx="3048000" cy="30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Backend Engineer</a:t>
            </a:r>
            <a:endParaRPr lang="en-US" sz="15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2" name="Bio2"/>
          <p:cNvSpPr txBox="1"/>
          <p:nvPr/>
        </p:nvSpPr>
        <p:spPr>
          <a:xfrm>
            <a:off x="8280400" y="4998720"/>
            <a:ext cx="3048000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1600" dirty="0"/>
              <a:t>Backend • APIs • Payments</a:t>
            </a:r>
            <a:endParaRPr lang="en-US" sz="1500" dirty="0">
              <a:solidFill>
                <a:srgbClr val="44403C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0" name="TeamNote"/>
          <p:cNvSpPr txBox="1"/>
          <p:nvPr/>
        </p:nvSpPr>
        <p:spPr>
          <a:xfrm>
            <a:off x="635000" y="6192520"/>
            <a:ext cx="10160000" cy="482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Keyingi</a:t>
            </a:r>
            <a:r>
              <a:rPr lang="en-US" sz="16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b="1" dirty="0" err="1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qadam</a:t>
            </a:r>
            <a:r>
              <a:rPr lang="en-US" sz="16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AI/ML Engineer </a:t>
            </a:r>
            <a:r>
              <a:rPr lang="en-US" sz="1600" dirty="0" err="1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va</a:t>
            </a:r>
            <a:r>
              <a:rPr lang="en-US" sz="16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Business Development </a:t>
            </a:r>
            <a:r>
              <a:rPr lang="en-US" sz="1600" dirty="0" err="1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mutaxassislarini</a:t>
            </a:r>
            <a:r>
              <a:rPr lang="en-US" sz="16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jamoaga</a:t>
            </a:r>
            <a:r>
              <a:rPr lang="en-US" sz="16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dirty="0" err="1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qo‘shish</a:t>
            </a:r>
            <a:r>
              <a:rPr lang="en-US" sz="16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.</a:t>
            </a:r>
          </a:p>
        </p:txBody>
      </p:sp>
      <p:sp>
        <p:nvSpPr>
          <p:cNvPr id="16" name="Text 11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13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397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PRE-SEED SO'ROVI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5000" y="736600"/>
            <a:ext cx="10883900" cy="55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$150,000 pre-seed — 18 oylik yo'l xaritasi</a:t>
            </a:r>
            <a:endParaRPr lang="en-US" sz="3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56432" cy="346425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19659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ULUSH 55%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$82,500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14400" y="2717800"/>
            <a:ext cx="2907792" cy="584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Mahsulot va jamoa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14400" y="3378200"/>
            <a:ext cx="2907792" cy="187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AI/ML va backend muhandislari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TROVA AI chatbot v2 va AR navigatsiya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Server, API va ma'lumot xarajatlari</a:t>
            </a:r>
          </a:p>
        </p:txBody>
      </p:sp>
      <p:sp>
        <p:nvSpPr>
          <p:cNvPr id="9" name="Shape 7"/>
          <p:cNvSpPr/>
          <p:nvPr/>
        </p:nvSpPr>
        <p:spPr>
          <a:xfrm>
            <a:off x="4352544" y="1691640"/>
            <a:ext cx="3456432" cy="346425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626864" y="19659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ULUSH 25%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626864" y="228600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$37,500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626864" y="2717800"/>
            <a:ext cx="2907792" cy="584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Bozorga chiqish (GTM)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626864" y="3378200"/>
            <a:ext cx="2907792" cy="187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Raqamli marketing va kontent kampaniyalari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B2B sotuv jamoasi — 80+ hamkor maqsadi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Toshkent va Samarqandda pilot kampaniyalar</a:t>
            </a:r>
          </a:p>
        </p:txBody>
      </p:sp>
      <p:sp>
        <p:nvSpPr>
          <p:cNvPr id="14" name="Shape 12"/>
          <p:cNvSpPr/>
          <p:nvPr/>
        </p:nvSpPr>
        <p:spPr>
          <a:xfrm>
            <a:off x="8065008" y="1691640"/>
            <a:ext cx="3456432" cy="3464254"/>
          </a:xfrm>
          <a:prstGeom prst="roundRect">
            <a:avLst>
              <a:gd name="adj" fmla="val 3175"/>
            </a:avLst>
          </a:prstGeom>
          <a:solidFill>
            <a:srgbClr val="FFFFFF"/>
          </a:solidFill>
          <a:ln w="9525">
            <a:solidFill>
              <a:srgbClr val="E7E3DC"/>
            </a:solidFill>
          </a:ln>
        </p:spPr>
        <p:txBody>
          <a:bodyPr/>
          <a:lstStyle/>
          <a:p>
            <a:endParaRPr lang="ru-RU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339328" y="1965960"/>
            <a:ext cx="2907792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ULUSH 20%</a:t>
            </a:r>
            <a:endParaRPr lang="en-US" sz="1400" dirty="0">
              <a:solidFill>
                <a:srgbClr val="00B050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339328" y="2286000"/>
            <a:ext cx="290779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itchFamily="34" charset="-120"/>
              </a:rPr>
              <a:t>$30,000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39328" y="2717800"/>
            <a:ext cx="2907792" cy="584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Operatsiya va zaxira</a:t>
            </a:r>
            <a:endParaRPr lang="en-US" sz="15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339328" y="3378200"/>
            <a:ext cx="2907792" cy="1879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2 ta yangi vakansiya: AI/ML va BizDev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Litsenziya, huquq va buxgalteriya</a:t>
            </a:r>
          </a:p>
          <a:p>
            <a:pPr marL="342900" indent="-3429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18 oylik operatsion zaxira (runway)</a:t>
            </a:r>
          </a:p>
        </p:txBody>
      </p:sp>
      <p:sp>
        <p:nvSpPr>
          <p:cNvPr id="19" name="Text 17"/>
          <p:cNvSpPr/>
          <p:nvPr/>
        </p:nvSpPr>
        <p:spPr>
          <a:xfrm>
            <a:off x="640080" y="6350000"/>
            <a:ext cx="1016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Taqsimot rejaviy ko'rsatkich; yakuniy shartlar investor bilan muhokama qilinadi</a:t>
            </a:r>
            <a:endParaRPr lang="en-US" sz="14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444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60" name="Insight"/>
          <p:cNvSpPr txBox="1"/>
          <p:nvPr/>
        </p:nvSpPr>
        <p:spPr>
          <a:xfrm>
            <a:off x="635000" y="5422900"/>
            <a:ext cx="1088390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00B05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Maqsad: </a:t>
            </a: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18 oy ichida 1,000 faol foydalanuvchi/oy va $112K yillik daromad — seed rauniga tayyor holat</a:t>
            </a:r>
          </a:p>
        </p:txBody>
      </p:sp>
      <p:sp>
        <p:nvSpPr>
          <p:cNvPr id="70" name="Subtitle"/>
          <p:cNvSpPr txBox="1"/>
          <p:nvPr/>
        </p:nvSpPr>
        <p:spPr>
          <a:xfrm>
            <a:off x="635000" y="1295400"/>
            <a:ext cx="108839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44403C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SAFE / konvertatsiya qilinadigan qarz  ·  10–15% ulush  ·  18 oy runway (~$8,300/oy burn rate)</a:t>
            </a:r>
          </a:p>
        </p:txBody>
      </p:sp>
    </p:spTree>
    <p:extLst>
      <p:ext uri="{BB962C8B-B14F-4D97-AF65-F5344CB8AC3E}">
        <p14:creationId xmlns:p14="http://schemas.microsoft.com/office/powerpoint/2010/main" val="563012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878AD1-A699-8BEE-46EE-DA7EB879D61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000" b="126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gradFill>
            <a:gsLst>
              <a:gs pos="0">
                <a:srgbClr val="0F172A">
                  <a:alpha val="95400"/>
                </a:srgbClr>
              </a:gs>
              <a:gs pos="42000">
                <a:srgbClr val="0F172A">
                  <a:alpha val="78600"/>
                </a:srgbClr>
              </a:gs>
              <a:gs pos="72000">
                <a:srgbClr val="0F172A">
                  <a:alpha val="99600"/>
                </a:srgbClr>
              </a:gs>
              <a:gs pos="100000">
                <a:srgbClr val="0F172A">
                  <a:alpha val="100000"/>
                </a:srgbClr>
              </a:gs>
            </a:gsLst>
            <a:lin ang="5400000" scaled="0"/>
          </a:gra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501" name="Divider"/>
          <p:cNvSpPr/>
          <p:nvPr/>
        </p:nvSpPr>
        <p:spPr>
          <a:xfrm>
            <a:off x="5588000" y="4013200"/>
            <a:ext cx="1016000" cy="3810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580990" y="4013200"/>
            <a:ext cx="11026969" cy="1690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Oʻzbekiston</a:t>
            </a:r>
            <a:r>
              <a:rPr lang="en-US" sz="4600" b="1" dirty="0">
                <a:solidFill>
                  <a:srgbClr val="FCFB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600" b="1" dirty="0" err="1">
                <a:solidFill>
                  <a:srgbClr val="FCFB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</a:t>
            </a:r>
            <a:r>
              <a:rPr lang="en-US" sz="4600" b="1" dirty="0" err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ʻ</a:t>
            </a:r>
            <a:r>
              <a:rPr lang="en-US" sz="4600" b="1" dirty="0" err="1">
                <a:solidFill>
                  <a:srgbClr val="FCFB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ylab</a:t>
            </a:r>
            <a:endParaRPr lang="en-US" sz="4600" b="1" dirty="0">
              <a:solidFill>
                <a:srgbClr val="FCFBF9"/>
              </a:solidFill>
              <a:latin typeface="Cambria" pitchFamily="34" charset="0"/>
              <a:ea typeface="Cambria" pitchFamily="34" charset="-122"/>
              <a:cs typeface="Cambria" pitchFamily="34" charset="-120"/>
            </a:endParaRPr>
          </a:p>
          <a:p>
            <a:pPr marL="0" indent="0" algn="ctr">
              <a:buNone/>
            </a:pPr>
            <a:r>
              <a:rPr lang="en-US" sz="4600" b="1" dirty="0" err="1">
                <a:solidFill>
                  <a:srgbClr val="FCFB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Sayohatni</a:t>
            </a:r>
            <a:r>
              <a:rPr lang="en-US" sz="4600" b="1" dirty="0">
                <a:solidFill>
                  <a:srgbClr val="FCFB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TROVA </a:t>
            </a:r>
            <a:r>
              <a:rPr lang="en-US" sz="4600" b="1" dirty="0" err="1">
                <a:solidFill>
                  <a:srgbClr val="FCFB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bilan</a:t>
            </a:r>
            <a:r>
              <a:rPr lang="en-US" sz="4600" b="1" dirty="0">
                <a:solidFill>
                  <a:srgbClr val="FCFB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600" b="1" dirty="0" err="1">
                <a:solidFill>
                  <a:srgbClr val="FCFB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boshlang</a:t>
            </a:r>
            <a:endParaRPr lang="en-US" sz="4600" dirty="0"/>
          </a:p>
        </p:txBody>
      </p:sp>
      <p:sp>
        <p:nvSpPr>
          <p:cNvPr id="6" name="Text 3"/>
          <p:cNvSpPr/>
          <p:nvPr/>
        </p:nvSpPr>
        <p:spPr>
          <a:xfrm>
            <a:off x="1057008" y="6355080"/>
            <a:ext cx="10074935" cy="30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700" b="1" kern="0" spc="400" dirty="0" err="1">
                <a:solidFill>
                  <a:schemeClr val="bg1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trovatour.vercel.app</a:t>
            </a:r>
            <a:r>
              <a:rPr lang="en-US" sz="1700" b="1" kern="0" spc="400" dirty="0">
                <a:solidFill>
                  <a:schemeClr val="bg1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 · </a:t>
            </a:r>
            <a:r>
              <a:rPr lang="ru-RU" sz="1600" dirty="0">
                <a:solidFill>
                  <a:schemeClr val="bg1"/>
                </a:solidFill>
              </a:rPr>
              <a:t>©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700" b="1" kern="0" spc="400" dirty="0">
                <a:solidFill>
                  <a:schemeClr val="bg1"/>
                </a:solidFill>
                <a:latin typeface="Times New Roman" panose="02020603050405020304" pitchFamily="18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mrforce.uz ·  +998(33)836-10-10</a:t>
            </a:r>
            <a:endParaRPr lang="en-US" sz="1700" dirty="0">
              <a:solidFill>
                <a:schemeClr val="bg1"/>
              </a:solidFill>
              <a:latin typeface="Times New Roman" panose="02020603050405020304" pitchFamily="18" charset="0"/>
              <a:ea typeface="Microsoft Sans Serif" panose="020B06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1274552" y="63550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E7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245B73A-26A8-4287-BFB8-EACDA39375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15468" y="312313"/>
            <a:ext cx="7561063" cy="35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4173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 [1785327522434]">
  <a:themeElements>
    <a:clrScheme name="Office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B45309"/>
      </a:accent1>
      <a:accent2>
        <a:srgbClr val="B45309"/>
      </a:accent2>
      <a:accent3>
        <a:srgbClr val="0F766E"/>
      </a:accent3>
      <a:accent4>
        <a:srgbClr val="6B6257"/>
      </a:accent4>
      <a:accent5>
        <a:srgbClr val="92400E"/>
      </a:accent5>
      <a:accent6>
        <a:srgbClr val="9F1239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91E538A-115E-4FC8-A8F8-34AC235A4FCA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360290a4-9d81-49d6-ad99-6c64f7713fa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1551</Words>
  <Application>Microsoft Office PowerPoint</Application>
  <PresentationFormat>Широкоэкранный</PresentationFormat>
  <Paragraphs>334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Aptos</vt:lpstr>
      <vt:lpstr>Arial</vt:lpstr>
      <vt:lpstr>Calibri</vt:lpstr>
      <vt:lpstr>Cambria</vt:lpstr>
      <vt:lpstr>Times New Roman</vt:lpstr>
      <vt:lpstr>Office Theme [1785327522434]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Muhammadali</cp:lastModifiedBy>
  <cp:revision>18</cp:revision>
  <dcterms:created xsi:type="dcterms:W3CDTF">2026-07-27T14:15:26Z</dcterms:created>
  <dcterms:modified xsi:type="dcterms:W3CDTF">2026-07-29T13:26:32Z</dcterms:modified>
</cp:coreProperties>
</file>